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8617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64166"/>
            <a:ext cx="3657600" cy="36576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oppan Bunkyu Midashi Gothic Ex" panose="020B0900000000000000" pitchFamily="34" charset="-128"/>
                <a:ea typeface="Toppan Bunkyu Midashi Gothic Ex" panose="020B0900000000000000" pitchFamily="34" charset="-128"/>
                <a:cs typeface="Trebuchet MS" pitchFamily="34" charset="-120"/>
              </a:rPr>
              <a:t>楕円曲線暗号</a:t>
            </a:r>
            <a:endParaRPr lang="en-US" sz="4800" dirty="0">
              <a:latin typeface="Toppan Bunkyu Midashi Gothic Extrabold" panose="020B0900000000000000" pitchFamily="34" charset="-128"/>
              <a:ea typeface="Toppan Bunkyu Midashi Gothic Extrabold" panose="020B0900000000000000" pitchFamily="34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2D3EE"/>
                </a:solidFill>
                <a:latin typeface="Toppan Bunkyu Midashi Gothic Extrabold" panose="020B0900000000000000" pitchFamily="34" charset="-128"/>
                <a:ea typeface="Toppan Bunkyu Midashi Gothic Extrabold" panose="020B0900000000000000" pitchFamily="34" charset="-128"/>
                <a:cs typeface="Trebuchet MS" pitchFamily="34" charset="-120"/>
              </a:rPr>
              <a:t>実装を通して学ぼう</a:t>
            </a:r>
            <a:endParaRPr lang="en-US" sz="2800" dirty="0">
              <a:latin typeface="Toppan Bunkyu Midashi Gothic Extrabold" panose="020B0900000000000000" pitchFamily="34" charset="-128"/>
              <a:ea typeface="Toppan Bunkyu Midashi Gothic Extrabold" panose="020B0900000000000000" pitchFamily="34" charset="-128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3154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wuhu1sland (49th)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731520" y="137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暗号の分類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002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554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共通鍵暗号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210312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729"/>
                </a:solidFill>
              </a:rPr>
              <a:t>AES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  使用例: Wi-Fi, SSH (暗号化)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F1729"/>
                </a:solidFill>
              </a:rPr>
              <a:t>ChaCha20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  使用例: WireGuard (暗号化)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54880" y="137160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4754880" y="1371600"/>
            <a:ext cx="393192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6002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554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公開鍵暗号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5029200" y="210312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729"/>
                </a:solidFill>
              </a:rPr>
              <a:t>RSA</a:t>
            </a:r>
            <a:endParaRPr lang="en-US" sz="1500" dirty="0"/>
          </a:p>
          <a:p>
            <a:pPr marL="0" indent="0">
              <a:buNone/>
            </a:pPr>
            <a:endParaRPr lang="en-US" sz="1500" b="1" dirty="0">
              <a:solidFill>
                <a:srgbClr val="0F1729"/>
              </a:solidFill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0F1729"/>
                </a:solidFill>
              </a:rPr>
              <a:t>ECC (楕円曲線暗号)</a:t>
            </a:r>
            <a:endParaRPr lang="en-US" sz="1500" dirty="0"/>
          </a:p>
          <a:p>
            <a:pPr marL="0" indent="0">
              <a:buNone/>
            </a:pPr>
            <a:endParaRPr lang="en-US" sz="1300" dirty="0">
              <a:solidFill>
                <a:srgbClr val="475569"/>
              </a:solidFill>
            </a:endParaRPr>
          </a:p>
          <a:p>
            <a:pPr marL="0" indent="0">
              <a:buNone/>
            </a:pPr>
            <a:endParaRPr lang="en-US" sz="1300" dirty="0">
              <a:solidFill>
                <a:srgbClr val="475569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  使用例: HTTPS, SSH, VPN (</a:t>
            </a:r>
            <a:r>
              <a:rPr lang="en-US" sz="1300" dirty="0" err="1">
                <a:solidFill>
                  <a:srgbClr val="475569"/>
                </a:solidFill>
              </a:rPr>
              <a:t>署名・鍵交換など</a:t>
            </a:r>
            <a:r>
              <a:rPr lang="en-US" sz="1300" dirty="0">
                <a:solidFill>
                  <a:srgbClr val="475569"/>
                </a:solidFill>
              </a:rPr>
              <a:t>)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solidFill>
            <a:srgbClr val="0F1729">
              <a:alpha val="8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1"/>
          <p:cNvSpPr/>
          <p:nvPr/>
        </p:nvSpPr>
        <p:spPr>
          <a:xfrm>
            <a:off x="731520" y="42976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共通鍵暗号は主に「暗号化」、公開鍵暗号は主に「認証」に使用される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731520" y="137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署名と鍵交換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087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デジタル署名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31520" y="201168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送信者が秘密鍵でメッセージに署名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受信者が公開鍵で署名を検証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→ 送信者の本人確認 + 改ざん検出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28016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50876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463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鍵交換 (鍵共有)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5029200" y="201168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事前の秘密の共有なしに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盗聴の可能性のある通信路を使って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→ 暗号鍵の共有を可能にする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73152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RSA と ECC の最大の違い — 安全性の根拠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73152" cy="27432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素因数分解の困難性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大きな数を素因数分解するのは計算量的に非常に困難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73152" cy="2743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12064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ECC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120640" y="1920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離散対数問題の困難性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0640" y="233172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r>
              <a:rPr lang="en-US" sz="1000" i="1" baseline="30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≡ m (mod p) で m は計算可能だが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g, p, m から x (離散対数) を求めるのが困難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ECCの方が短い鍵長で同等の安全性を実現できる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73152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ECC (楕円曲線暗号) とは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楕円曲線上の離散対数問題の困難性を利用した公開鍵暗号方式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54864" cy="6400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ECDH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17520" y="18288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Elliptic curve Diffie-Hellman key exchange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0" y="193852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鍵交換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578608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731520" y="2578608"/>
            <a:ext cx="54864" cy="640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1005840" y="257860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ECDSA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17520" y="25786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Elliptic Curve Digital Signature Algorithm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0" y="2688336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署名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328416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731520" y="3328416"/>
            <a:ext cx="54864" cy="6400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1005840" y="332841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Schnorr署名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017520" y="332841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1989年発明、2008年まで特許制限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0" y="343814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署名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078224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731520" y="4078224"/>
            <a:ext cx="54864" cy="64008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1005840" y="407822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EdDSA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017520" y="407822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Edwards-curve Digital Signature Algorithm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0" y="418795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署名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731520" y="137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楕円曲線と演算の定義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73152" cy="18288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Weierstrass 標準形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y² = x³ + ax + b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ECDSA, Schnorr等で使用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73152" cy="1828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12064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Edwards 曲線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12064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ax² + y² = 1 + dx²y²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120640" y="2423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EdDSAで使用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パラメータの値はアルゴリズムごとに異なり、曲線が非特異であることが必要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731520" y="137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代表的な曲線例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73152" cy="2560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secp256k1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77240" y="192024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Bitcoinで使用 (Weierstrass形式)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a = 0, b = 7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y² = x³ + 7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28016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4754880" y="1280160"/>
            <a:ext cx="73152" cy="25603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4630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Ed25519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5074920" y="192024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ssh-keygenで使用 (Edwards形式)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a = -1, d = -121665/121666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4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-x² + y² = 1 - (121665/121666)x²y²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曲線の係数に加え、有限体の法 p、ベースポイント G、G の位数 n もパラメータとなる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731520" y="137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楕円曲線上の演算と群構造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2点 P, Q を通る直線が曲線と交わる第3の点を x 軸反転した点が P + Q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54864" cy="640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051560" y="20116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単位元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926080" y="20116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無限遠点 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78892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731520" y="2788920"/>
            <a:ext cx="54864" cy="6400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1051560" y="2788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逆元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26080" y="27889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軸対称の点  −P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56616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731520" y="3566160"/>
            <a:ext cx="54864" cy="6400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1051560" y="3566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結合法則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26080" y="35661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 + Q) + R = P + (Q + R)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この演算により楕円曲線は群 (Group) となる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731520" y="137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有限体上の楕円曲線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素数 p を法とする剰余集合 {0, 1, ..., p-1} = 有限体 F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有限体上で同じ演算を定義 → 曲線は群になる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ただし「曲線」には見えず、ランダムに見える点の集合となる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7680960" cy="1371600"/>
          </a:xfrm>
          <a:prstGeom prst="rect">
            <a:avLst/>
          </a:prstGeom>
          <a:solidFill>
            <a:srgbClr val="0F1729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3832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安全性の根拠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97280" y="3840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順に g を繰り返し加算すれば gˣ ≡ m は計算できるが、m と g から x を復元できない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9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137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ECDH — 楕円曲線 Diffie-Hellman 鍵交換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731520" y="132588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/>
          <p:nvPr/>
        </p:nvSpPr>
        <p:spPr>
          <a:xfrm>
            <a:off x="7315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123444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Alice・Bob 間で曲線パラメータ (G, n) を共有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" y="228600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/>
          <p:nvPr/>
        </p:nvSpPr>
        <p:spPr>
          <a:xfrm>
            <a:off x="7315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21945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各自ランダムな秘密鍵 dA, dB を生成し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= dA·G, QB = dB·G の公開鍵を交換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1520" y="324612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73152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71600" y="315468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Alice: dA·QB  /  Bob: dB·QA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同じ値 K = dA·dB·G を得る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solidFill>
            <a:srgbClr val="0F172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1097280" y="39319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秘密鍵を明かさず共通の値 K を共有 / 第三者は K を計算できない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9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137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ECDSA — 署名アルゴリズム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1143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SSL証明書やBitcoinの署名など幅広く使われるスタンダード (1999年NIST標準化)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39319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4"/>
          <p:cNvSpPr/>
          <p:nvPr/>
        </p:nvSpPr>
        <p:spPr>
          <a:xfrm>
            <a:off x="457200" y="1600200"/>
            <a:ext cx="3931920" cy="4572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457200" y="1600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Alice (署名者)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214884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秘密鍵 dA → 公開鍵 QA = dA·G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 = H(m) → 上位ビットマスク z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乱数 k → (x,y) = k·G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 = x mod 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 = k⁻¹(z + r·dA) mod n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署名 (r, s) を m と共に送信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600200"/>
            <a:ext cx="39319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8"/>
          <p:cNvSpPr/>
          <p:nvPr/>
        </p:nvSpPr>
        <p:spPr>
          <a:xfrm>
            <a:off x="4754880" y="1600200"/>
            <a:ext cx="393192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4754880" y="1600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Bob (検証者)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937760" y="214884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(r, s) を受け取る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 = H(m) → z を計算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u₁ = z·s⁻¹ mod 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u₂ = r·s⁻¹ mod 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(x', y') = u₁G + u₂QA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x' ≡ r (mod n) なら正当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572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3657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余談: PS3 事件 (2010)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31520" y="1188720"/>
            <a:ext cx="7680960" cy="100584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32588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71600" y="12344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SONY が全署名で同じ nonce k を使い回した結果、秘密鍵 dA が逆算された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731520" y="237744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</a:rPr>
              <a:t>同じ k → 同じ r  /  2つのメッセージの署名から連立方程式を構成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≡ (z₁ - z₂) / (s₁ - s₂)  mod n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 = (s·k - z) / r  mod n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31520" y="39319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fail0verflow (marcan, bushing, sven) が nonce を特定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George Hotz が署名用秘密鍵を割り出し → jailbreak 可能に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572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余談: Snowden 事件 — Dual_EC_DRBG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731520" y="128016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</a:rPr>
              <a:t>NSA推奨の乱数生成器 Dual_EC_DRBG にバックドア疑惑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ベースポイントの決定根拠が不明瞭 →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NSA が事前にスカラー値を把握していた可能性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EF4444"/>
                </a:solidFill>
              </a:rPr>
              <a:t>乱数生成パターンが予測可能になると nonce が割れ、秘密鍵復元のリスク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31520" y="3657600"/>
            <a:ext cx="7680960" cy="91440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/>
          <p:nvPr/>
        </p:nvSpPr>
        <p:spPr>
          <a:xfrm>
            <a:off x="1097280" y="37490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教訓: 暗号アルゴリズム自体だけでなく、乱数生成器の安全性も極めて重要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731520" y="137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Schnorr 署名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1989年発明 / 2008年まで特許制限 / ECDSAより検証効率が良く、集約署名が可能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931920" cy="4114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Alice (署名者)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秘密鍵 dA / 公開鍵 QA = dA·G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乱数 r → R = r·G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 || m を結合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 = r + H(R||m)·dA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署名 (R, s) を送信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1645920"/>
            <a:ext cx="3931920" cy="411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754880" y="16459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Bob (検証者)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14884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(R, s) を受け取る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以下を確認:</a:t>
            </a:r>
            <a:endParaRPr lang="en-US" sz="1300" dirty="0"/>
          </a:p>
          <a:p>
            <a:pPr marL="0" indent="0">
              <a:buNone/>
            </a:pPr>
            <a:r>
              <a:rPr lang="en-US" sz="15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s·G = R + H(R||m)·QA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solidFill>
            <a:srgbClr val="0F1729">
              <a:alpha val="8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めちゃくちゃシンプル。証明も簡単。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73152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EdDSA — Edwards-curve Digital Signature Algorithm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Twisted Edwards 曲線を使用 (Weierstrass形式ではない)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93192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931920" cy="4114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Alice (署名者)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H(dA) 前半32B → s / QA = s·G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H(dA) 後半32B → prefix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 = H(prefix||m) mod 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 = r·G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k = H(R||QA||m) mod 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 = (r + k·s) mod n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署名 (R, S) を送信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508760"/>
            <a:ext cx="393192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1508760"/>
            <a:ext cx="3931920" cy="411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754880" y="15087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Bob (検証者)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01168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(R, S) を受け取る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 = H(R||QA||m) mod 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以下を確認:</a:t>
            </a:r>
            <a:endParaRPr lang="en-US" sz="12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8(S·G) = 8(R + k·QA)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73152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EdDSA の特徴 — Schnorr 署名との違い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73152" cy="13716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716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決定論的 nonce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88720" y="1783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nonce r を秘密鍵のハッシュから決定論的に計算 → 乱数生成器の安全性に依存しない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83464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457200" y="2834640"/>
            <a:ext cx="73152" cy="1828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77724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Cofactor 8 の存在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77240" y="338328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twisted Edwards曲線のベースポイントGの位数 n = 8L (素数ではない)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完全加法公式が使用可能 → 点の場合分け不要 → サイドチャネル攻撃耐性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小位数部分群の影響をキャンセルするため検証時に ×8 する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9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137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応用例 1: SSH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31520" y="128016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3"/>
          <p:cNvSpPr/>
          <p:nvPr/>
        </p:nvSpPr>
        <p:spPr>
          <a:xfrm>
            <a:off x="731520" y="1280160"/>
            <a:ext cx="54864" cy="7315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4"/>
          <p:cNvSpPr/>
          <p:nvPr/>
        </p:nvSpPr>
        <p:spPr>
          <a:xfrm>
            <a:off x="1005840" y="14173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10058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91640" y="12801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鍵交換で共有秘密を作成 → 暗号化用の共通鍵を生成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214884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8"/>
          <p:cNvSpPr/>
          <p:nvPr/>
        </p:nvSpPr>
        <p:spPr>
          <a:xfrm>
            <a:off x="731520" y="2148840"/>
            <a:ext cx="54864" cy="7315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9"/>
          <p:cNvSpPr/>
          <p:nvPr/>
        </p:nvSpPr>
        <p:spPr>
          <a:xfrm>
            <a:off x="1005840" y="228600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10058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691640" y="21488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サーバはホスト鍵で自己証明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(クライアントは ~/.ssh/known_hosts と照合)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31520" y="301752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3"/>
          <p:cNvSpPr/>
          <p:nvPr/>
        </p:nvSpPr>
        <p:spPr>
          <a:xfrm>
            <a:off x="731520" y="3017520"/>
            <a:ext cx="54864" cy="7315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4"/>
          <p:cNvSpPr/>
          <p:nvPr/>
        </p:nvSpPr>
        <p:spPr>
          <a:xfrm>
            <a:off x="1005840" y="315468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10058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691640" y="30175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サーバがチャレンジを送信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クライアントが秘密鍵で署名して返す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31520" y="388620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8"/>
          <p:cNvSpPr/>
          <p:nvPr/>
        </p:nvSpPr>
        <p:spPr>
          <a:xfrm>
            <a:off x="731520" y="388620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19"/>
          <p:cNvSpPr/>
          <p:nvPr/>
        </p:nvSpPr>
        <p:spPr>
          <a:xfrm>
            <a:off x="1005840" y="402336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0"/>
          <p:cNvSpPr/>
          <p:nvPr/>
        </p:nvSpPr>
        <p:spPr>
          <a:xfrm>
            <a:off x="10058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691640" y="38862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公開鍵で検証 → 認証完了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9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137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応用例 2: Bitcoin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31520" y="1261872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/>
          <p:nvPr/>
        </p:nvSpPr>
        <p:spPr>
          <a:xfrm>
            <a:off x="73152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71600" y="1188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UTXOアンロック — 秘密鍵で未使用送金への署名を作成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192024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/>
          <p:nvPr/>
        </p:nvSpPr>
        <p:spPr>
          <a:xfrm>
            <a:off x="73152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71600" y="184708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トランザクション作成 — 署名+公開鍵をinput、送信先hashをoutput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2578608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731520" y="2578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371600" y="250545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検証 — マイナーが公開鍵hashと署名を検証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1520" y="3236976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731520" y="32369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371600" y="316382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 — nonce探索でブロック生成条件を満たすハッシュを発見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31520" y="3895344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731520" y="3895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371600" y="38221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ブロックチェーン追加 — 他ノードが検証して各自追加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31520" y="4480560"/>
            <a:ext cx="7680960" cy="411480"/>
          </a:xfrm>
          <a:prstGeom prst="rect">
            <a:avLst/>
          </a:prstGeom>
          <a:solidFill>
            <a:srgbClr val="0F1729">
              <a:alpha val="8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/>
          <p:cNvSpPr/>
          <p:nvPr/>
        </p:nvSpPr>
        <p:spPr>
          <a:xfrm>
            <a:off x="731520" y="44805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署名アルゴリズム: secp256k1 曲線の ECDSA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73152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Bitcoin Taproot アップグレード (2021)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主な変更点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34747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5623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916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公開鍵のハッシュを output に記録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856232"/>
            <a:ext cx="274320" cy="2743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846320" y="1691640"/>
            <a:ext cx="3840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856232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94960" y="16916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公開鍵の x 座標を output に記録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731520" y="2560320"/>
            <a:ext cx="34747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724912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25603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ECDSA 署名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2724912"/>
            <a:ext cx="274320" cy="274320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4846320" y="2560320"/>
            <a:ext cx="3840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724912"/>
            <a:ext cx="274320" cy="27432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394960" y="25603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Schnorr 署名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73152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メリット</a:t>
            </a:r>
            <a:endParaRPr lang="en-US" sz="1800" dirty="0"/>
          </a:p>
        </p:txBody>
      </p:sp>
      <p:sp>
        <p:nvSpPr>
          <p:cNvPr id="20" name="Text 12"/>
          <p:cNvSpPr/>
          <p:nvPr/>
        </p:nvSpPr>
        <p:spPr>
          <a:xfrm>
            <a:off x="731520" y="39776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Schnorr署名の線形性 → マルチシグ / バッチ検証 / パフォーマンス向上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key-path spend に加え、マークルツリーによる script-path spend も実装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5486400" cy="54864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演習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EdDSA / Schnorr署名 / DH鍵交換 を実装してみよう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731520" y="44348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wuhu1sland (49th)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1088</Words>
  <Application>Microsoft Macintosh PowerPoint</Application>
  <PresentationFormat>画面に合わせる (16:9)</PresentationFormat>
  <Paragraphs>227</Paragraphs>
  <Slides>20</Slides>
  <Notes>20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7" baseType="lpstr">
      <vt:lpstr>Toppan Bunkyu Midashi Gothic Ex</vt:lpstr>
      <vt:lpstr>Toppan Bunkyu Midashi Gothic Extrabold</vt:lpstr>
      <vt:lpstr>Arial</vt:lpstr>
      <vt:lpstr>Calibri</vt:lpstr>
      <vt:lpstr>Consolas</vt:lpstr>
      <vt:lpstr>Trebuchet MS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楕円曲線暗号 実装を通して学ぼう</dc:title>
  <dc:subject>PptxGenJS Presentation</dc:subject>
  <dc:creator>wuhu1sland</dc:creator>
  <cp:lastModifiedBy>Souichirou Tsujimoto</cp:lastModifiedBy>
  <cp:revision>3</cp:revision>
  <dcterms:created xsi:type="dcterms:W3CDTF">2026-03-06T02:23:09Z</dcterms:created>
  <dcterms:modified xsi:type="dcterms:W3CDTF">2026-03-06T02:30:19Z</dcterms:modified>
</cp:coreProperties>
</file>